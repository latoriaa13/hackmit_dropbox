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[0:00-0:20 — 20 sec]</a:t>
            </a:r>
          </a:p>
          <a:p/>
          <a:p>
            <a:r>
              <a:t>"Hi, we're DonoRex.</a:t>
            </a:r>
          </a:p>
          <a:p/>
          <a:p>
            <a:r>
              <a:t>Every university has a small advancement team and a very large alumni database.</a:t>
            </a:r>
          </a:p>
          <a:p>
            <a:r>
              <a:t>DonoRex tells that team exactly who to contact this week, what to say, and why —</a:t>
            </a:r>
          </a:p>
          <a:p>
            <a:r>
              <a:t>and then books it into their real calendar.</a:t>
            </a:r>
          </a:p>
          <a:p/>
          <a:p>
            <a:r>
              <a:t>Let me show you the problem first."</a:t>
            </a:r>
          </a:p>
          <a:p/>
          <a:p>
            <a:r>
              <a:t>DELIVERY: Don't read the tagline. Say the team names, then move. This slide is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[0:20-0:55 — 35 sec]</a:t>
            </a:r>
          </a:p>
          <a:p/>
          <a:p>
            <a:r>
              <a:t>"This is the real GiveCampus dataset: 20,000 constituents, and 1,002 who gave last</a:t>
            </a:r>
          </a:p>
          <a:p>
            <a:r>
              <a:t>year but not this year — lapsing right now.</a:t>
            </a:r>
          </a:p>
          <a:p/>
          <a:p>
            <a:r>
              <a:t>A fundraiser has a 40-hour week. That's about 149 meaningful personal touches.</a:t>
            </a:r>
          </a:p>
          <a:p>
            <a:r>
              <a:t>Zero point seven percent of the database.</a:t>
            </a:r>
          </a:p>
          <a:p/>
          <a:p>
            <a:r>
              <a:t>So the job isn't reporting. The job is choosing — which 149, and what to do with each.</a:t>
            </a:r>
          </a:p>
          <a:p/>
          <a:p>
            <a:r>
              <a:t>Today that choice is made by gut feel and whoever the fundraiser remembers."</a:t>
            </a:r>
          </a:p>
          <a:p/>
          <a:p>
            <a:r>
              <a:t>DELIVERY: Land "Which 149?" on the big orange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[0:55-1:15 — 20 sec]</a:t>
            </a:r>
          </a:p>
          <a:p/>
          <a:p>
            <a:r>
              <a:t>"DonoRex answers that question.</a:t>
            </a:r>
          </a:p>
          <a:p/>
          <a:p>
            <a:r>
              <a:t>It turns a giant alumni database into a weekly plan: who to contact, what action to</a:t>
            </a:r>
          </a:p>
          <a:p>
            <a:r>
              <a:t>take, how many minutes it costs, and why — then optionally books it into Outlook and</a:t>
            </a:r>
          </a:p>
          <a:p>
            <a:r>
              <a:t>drafts the outreach for human approval."</a:t>
            </a:r>
          </a:p>
          <a:p/>
          <a:p>
            <a:r>
              <a:t>Keep this slide short; the next one is the hero demo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[1:15-1:50 — 35 sec]</a:t>
            </a:r>
          </a:p>
          <a:p/>
          <a:p>
            <a:r>
              <a:t>"This is the hero flow.</a:t>
            </a:r>
          </a:p>
          <a:p/>
          <a:p>
            <a:r>
              <a:t>Pick a fundraising objective — protect renewals, maximize near-term dollars, reactivate</a:t>
            </a:r>
          </a:p>
          <a:p>
            <a:r>
              <a:t>lapsed donors. Set the hours you actually have — twenty or forty. Hit Build my week.</a:t>
            </a:r>
          </a:p>
          <a:p/>
          <a:p>
            <a:r>
              <a:t>You get a ranked queue: channel, minutes, evidence, suggested message. Export CSV or</a:t>
            </a:r>
          </a:p>
          <a:p>
            <a:r>
              <a:t>connect Outlook to place tasks around your real calendar.</a:t>
            </a:r>
          </a:p>
          <a:p/>
          <a:p>
            <a:r>
              <a:t>If the live demo is up, do this on screen instead of the slide."</a:t>
            </a:r>
          </a:p>
          <a:p/>
          <a:p>
            <a:r>
              <a:t>DELIVERY: Point at objective, hours, and the first queue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[1:50-2:40 — 50 sec]</a:t>
            </a:r>
          </a:p>
          <a:p/>
          <a:p>
            <a:r>
              <a:t>"Here's how the pieces connect — product architecture, not a stack diagram.</a:t>
            </a:r>
          </a:p>
          <a:p/>
          <a:p>
            <a:r>
              <a:t>Ingestion pulls GiveCampus CSVs into constituent profiles. Classification applies</a:t>
            </a:r>
          </a:p>
          <a:p>
            <a:r>
              <a:t>donor labels — LYBUNT, loyal, lapsed — and contact rules.</a:t>
            </a:r>
          </a:p>
          <a:p/>
          <a:p>
            <a:r>
              <a:t>The priority engine scores every legal action and packs the best ones into your hour</a:t>
            </a:r>
          </a:p>
          <a:p>
            <a:r>
              <a:t>budget. That becomes the weekly plan you just saw.</a:t>
            </a:r>
          </a:p>
          <a:p/>
          <a:p>
            <a:r>
              <a:t>Scheduling reads Outlook free/busy and places tasks in open slots.</a:t>
            </a:r>
          </a:p>
          <a:p/>
          <a:p>
            <a:r>
              <a:t>The M365 MCP layer is a narrow tool registry — seven validated Graph operations for</a:t>
            </a:r>
          </a:p>
          <a:p>
            <a:r>
              <a:t>calendar and mail, nothing arbitrary. Autopilot calls those tools to draft outreach.</a:t>
            </a:r>
          </a:p>
          <a:p/>
          <a:p>
            <a:r>
              <a:t>Then a human approves before anything sends. The gate is policy, not just UI."</a:t>
            </a:r>
          </a:p>
          <a:p/>
          <a:p>
            <a:r>
              <a:t>DELIVERY: Trace left to right, then drop down to approval on the last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[2:45-3:45 — 60 sec]</a:t>
            </a:r>
          </a:p>
          <a:p/>
          <a:p>
            <a:r>
              <a:t>"A fundraiser will not act on a black box. So every card explains itself.</a:t>
            </a:r>
          </a:p>
          <a:p/>
          <a:p>
            <a:r>
              <a:t>Each one gives you the rank, the channel, how many minutes it costs, and a</a:t>
            </a:r>
          </a:p>
          <a:p>
            <a:r>
              <a:t>'Why now?' — here, lapsed donor, reactivation timing. Then the raw evidence:</a:t>
            </a:r>
          </a:p>
          <a:p>
            <a:r>
              <a:t>repeat donor, loyal, SYBUNT, last gift $100 in 2021. Those are the facts the score</a:t>
            </a:r>
          </a:p>
          <a:p>
            <a:r>
              <a:t>was built from, not a rationalization after the fact.</a:t>
            </a:r>
          </a:p>
          <a:p/>
          <a:p>
            <a:r>
              <a:t>Open the person and you also get why NOT — why we're not asking them to upgrade, and</a:t>
            </a:r>
          </a:p>
          <a:p>
            <a:r>
              <a:t>what evidence we're missing to be more confident.</a:t>
            </a:r>
          </a:p>
          <a:p/>
          <a:p>
            <a:r>
              <a:t>And those buttons at the bottom matter: if the fundraiser says 'wrong action,'</a:t>
            </a:r>
          </a:p>
          <a:p>
            <a:r>
              <a:t>that person drops in the next rebuild. The human stays in charge of the queue.</a:t>
            </a:r>
          </a:p>
          <a:p/>
          <a:p>
            <a:r>
              <a:t>Honest note: the anonymous-gift amounts are redacted on purpose, and the feedback is</a:t>
            </a:r>
          </a:p>
          <a:p>
            <a:r>
              <a:t>session-local right now — it's not a trained model yet."</a:t>
            </a:r>
          </a:p>
          <a:p/>
          <a:p>
            <a:r>
              <a:t>DELIVERY: Read one real card out loud, name and all. Specificity sells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[3:40-4:30 — 50 sec]</a:t>
            </a:r>
          </a:p>
          <a:p/>
          <a:p>
            <a:r>
              <a:t>"Ranking the work is only half of it. The other half is doing it.</a:t>
            </a:r>
          </a:p>
          <a:p/>
          <a:p>
            <a:r>
              <a:t>This is Autopilot. When the queue says 'thank Claire Foster,' DonoRex writes the</a:t>
            </a:r>
          </a:p>
          <a:p>
            <a:r>
              <a:t>draft — grounded in her actual giving history, not invented — and pushes it into</a:t>
            </a:r>
          </a:p>
          <a:p>
            <a:r>
              <a:t>Microsoft Graph as a real Outlook draft.</a:t>
            </a:r>
          </a:p>
          <a:p/>
          <a:p>
            <a:r>
              <a:t>Then it stops. Every send and every calendar invitation lands in this approval</a:t>
            </a:r>
          </a:p>
          <a:p>
            <a:r>
              <a:t>inbox, and a human clicks Approve or Reject. That gate is in the policy layer, not</a:t>
            </a:r>
          </a:p>
          <a:p>
            <a:r>
              <a:t>just the UI — mail.send and calendar.send_invitation are both marked</a:t>
            </a:r>
          </a:p>
          <a:p>
            <a:r>
              <a:t>requires-approval in code, and anything unrecognised defaults to requiring approval.</a:t>
            </a:r>
          </a:p>
          <a:p/>
          <a:p>
            <a:r>
              <a:t>Everything that happens gets audit-logged: drafted, approved, rejected, executed.</a:t>
            </a:r>
          </a:p>
          <a:p/>
          <a:p>
            <a:r>
              <a:t>And the permissions are delegated to the signed-in user only — we never asked for</a:t>
            </a:r>
          </a:p>
          <a:p>
            <a:r>
              <a:t>tenant-wide mailbox access. The token cache is AES-256-GCM encrypted on disk."</a:t>
            </a:r>
          </a:p>
          <a:p/>
          <a:p>
            <a:r>
              <a:t>DELIVERY: The punchline is "it stops." Fundraising automation that sends on its own</a:t>
            </a:r>
          </a:p>
          <a:p>
            <a:r>
              <a:t>is a liability; the approval gate is the feature,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[4:25-4:50 — 25 sec]</a:t>
            </a:r>
          </a:p>
          <a:p/>
          <a:p>
            <a:r>
              <a:t>"What we'd fix.</a:t>
            </a:r>
          </a:p>
          <a:p/>
          <a:p>
            <a:r>
              <a:t>The optimizer is greedy, not integer programming — near-optimal, and fast enough to</a:t>
            </a:r>
          </a:p>
          <a:p>
            <a:r>
              <a:t>rerun live, but not provably optimal.</a:t>
            </a:r>
          </a:p>
          <a:p/>
          <a:p>
            <a:r>
              <a:t>The dollar figures are planning estimates from past giving. We are careful not to</a:t>
            </a:r>
          </a:p>
          <a:p>
            <a:r>
              <a:t>call them predicted revenue, because there's no experiment in this dataset that</a:t>
            </a:r>
          </a:p>
          <a:p>
            <a:r>
              <a:t>would let us claim causal lift.</a:t>
            </a:r>
          </a:p>
          <a:p/>
          <a:p>
            <a:r>
              <a:t>Segments are template matching, not an LLM. Feedback is browser-local. And recurring</a:t>
            </a:r>
          </a:p>
          <a:p>
            <a:r>
              <a:t>automations need a manual Run now — there's no background scheduler yet."</a:t>
            </a:r>
          </a:p>
          <a:p/>
          <a:p>
            <a:r>
              <a:t>DELIVERY: Say these confidently and quickly. Judges trust teams that name their own</a:t>
            </a:r>
          </a:p>
          <a:p>
            <a:r>
              <a:t>limits before being asked. Do not apologize.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[4:50-5:00 — 10 sec]</a:t>
            </a:r>
          </a:p>
          <a:p/>
          <a:p>
            <a:r>
              <a:t>"Thanks to GiveCampus for the dataset and the challenge, to the HackMIT organizers,</a:t>
            </a:r>
          </a:p>
          <a:p>
            <a:r>
              <a:t>and to our mentors.</a:t>
            </a:r>
          </a:p>
          <a:p/>
          <a:p>
            <a:r>
              <a:t>DonoRex: it tells a fundraising team who to call on Tuesday, and why. Happy to take</a:t>
            </a:r>
          </a:p>
          <a:p>
            <a:r>
              <a:t>questions."</a:t>
            </a:r>
          </a:p>
          <a:p/>
          <a:p>
            <a:r>
              <a:t>BACKUP SLIDES TO HAVE READY (append after this one, do not present):</a:t>
            </a:r>
          </a:p>
          <a:p>
            <a:r>
              <a:t>  • Strategy simulator — the same hours run under 7 different strategies</a:t>
            </a:r>
          </a:p>
          <a:p>
            <a:r>
              <a:t>  • Communities &amp; connectors — who can introduce you to whom</a:t>
            </a:r>
          </a:p>
          <a:p>
            <a:r>
              <a:t>  • Autopilot approval inbox — the human-in-the-loop send gate</a:t>
            </a:r>
          </a:p>
          <a:p>
            <a:r>
              <a:t>  • Privacy — anonymous gift redaction, delegated-only Graph scopes,</a:t>
            </a:r>
          </a:p>
          <a:p>
            <a:r>
              <a:t>    AES-256-GCM encrypted token cache</a:t>
            </a:r>
          </a:p>
          <a:p/>
          <a:p>
            <a:r>
              <a:t>LIKELY QUESTIONS:</a:t>
            </a:r>
          </a:p>
          <a:p>
            <a:r>
              <a:t>  Q: How do you know the recommendations are good?</a:t>
            </a:r>
          </a:p>
          <a:p>
            <a:r>
              <a:t>  A: We can't measure causal lift without an experiment — no A/B data in the set. What</a:t>
            </a:r>
          </a:p>
          <a:p>
            <a:r>
              <a:t>     we can show is that the ranking is fully auditable: every score decomposes into</a:t>
            </a:r>
          </a:p>
          <a:p>
            <a:r>
              <a:t>     named evidence on the card.</a:t>
            </a:r>
          </a:p>
          <a:p/>
          <a:p>
            <a:r>
              <a:t>  Q: Why not use an LLM to pick?</a:t>
            </a:r>
          </a:p>
          <a:p>
            <a:r>
              <a:t>  A: Fundraisers need a reason they can repeat to a boss. The ranking is deterministic</a:t>
            </a:r>
          </a:p>
          <a:p>
            <a:r>
              <a:t>     and explainable; the LLM-shaped work is drafting the message, and even that is</a:t>
            </a:r>
          </a:p>
          <a:p>
            <a:r>
              <a:t>     gated on human approval.</a:t>
            </a:r>
          </a:p>
          <a:p/>
          <a:p>
            <a:r>
              <a:t>  Q: What's the Microsoft integration actually doing?</a:t>
            </a:r>
          </a:p>
          <a:p>
            <a:r>
              <a:t>  A: Delegated permissions for the signed-in user only. It reads free/busy to schedule,</a:t>
            </a:r>
          </a:p>
          <a:p>
            <a:r>
              <a:t>     writes drafts, and never sends mail or invitations without an explicit approval</a:t>
            </a:r>
          </a:p>
          <a:p>
            <a:r>
              <a:t>     click. Tokens are AES-256-GCM encrypted on disk and every action is audit-logged.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.png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nor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651000"/>
            <a:ext cx="5461000" cy="17373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937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>
                <a:solidFill>
                  <a:srgbClr val="232325"/>
                </a:solidFill>
                <a:latin typeface="Aptos Display"/>
              </a:rPr>
              <a:t>Automated Donation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851400"/>
            <a:ext cx="1066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232325"/>
                </a:solidFill>
                <a:latin typeface="Aptos"/>
              </a:rPr>
              <a:t>Ava Latoria  ·  [teammate names]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283200"/>
            <a:ext cx="10668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Aptos"/>
              </a:rPr>
              <a:t>HackMIT  ·  GiveCampus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533400"/>
            <a:ext cx="762000" cy="889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736600"/>
            <a:ext cx="5080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232325"/>
                </a:solidFill>
                <a:latin typeface="Aptos Display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498600"/>
            <a:ext cx="1041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Aptos"/>
              </a:rPr>
              <a:t>GiveCampus University — real constituent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006600"/>
            <a:ext cx="3302000" cy="149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5200" y="2235200"/>
            <a:ext cx="29972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>
                <a:solidFill>
                  <a:srgbClr val="FF6B00"/>
                </a:solidFill>
                <a:latin typeface="Aptos Display"/>
              </a:rPr>
              <a:t>20,000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2870200"/>
            <a:ext cx="299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0B192C"/>
                </a:solidFill>
                <a:latin typeface="Aptos"/>
              </a:rPr>
              <a:t>constituents in the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5000" y="2006600"/>
            <a:ext cx="3302000" cy="149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7400" y="2235200"/>
            <a:ext cx="29972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>
                <a:solidFill>
                  <a:srgbClr val="FF6B00"/>
                </a:solidFill>
                <a:latin typeface="Aptos Display"/>
              </a:rPr>
              <a:t>1,002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2870200"/>
            <a:ext cx="299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0B192C"/>
                </a:solidFill>
                <a:latin typeface="Aptos"/>
              </a:rPr>
              <a:t>LYBUNT — gave last year, not this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2006600"/>
            <a:ext cx="3302000" cy="149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235200"/>
            <a:ext cx="29972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0">
                <a:solidFill>
                  <a:srgbClr val="FF6B00"/>
                </a:solidFill>
                <a:latin typeface="Aptos Display"/>
              </a:rPr>
              <a:t>149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70200"/>
            <a:ext cx="299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0B192C"/>
                </a:solidFill>
                <a:latin typeface="Aptos"/>
              </a:rPr>
              <a:t>personal touches in a 40-hour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810000"/>
            <a:ext cx="1056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232325"/>
                </a:solidFill>
                <a:latin typeface="Aptos"/>
              </a:rPr>
              <a:t>Every CRM can export the list.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232325"/>
                </a:solidFill>
                <a:latin typeface="Aptos"/>
              </a:rPr>
              <a:t>Advancement teams still have to choose who gets one of those 149 slots — and whether each touch is stewardship or an 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080000"/>
            <a:ext cx="10566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>
                <a:solidFill>
                  <a:srgbClr val="FF6B00"/>
                </a:solidFill>
                <a:latin typeface="Aptos Display"/>
              </a:rPr>
              <a:t>Which 149?</a:t>
            </a:r>
          </a:p>
        </p:txBody>
      </p:sp>
      <p:pic>
        <p:nvPicPr>
          <p:cNvPr id="17" name="Picture 16" descr="donor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5943600"/>
            <a:ext cx="1968500" cy="626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2800" y="533400"/>
            <a:ext cx="762000" cy="889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736600"/>
            <a:ext cx="6604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232325"/>
                </a:solidFill>
                <a:latin typeface="Aptos Display"/>
              </a:rPr>
              <a:t>Introducing DonoRex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498600"/>
            <a:ext cx="48260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B192C"/>
                </a:solidFill>
                <a:latin typeface="Aptos"/>
              </a:rPr>
              <a:t>Automated Donation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387600"/>
            <a:ext cx="4572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232325"/>
                </a:solidFill>
                <a:latin typeface="Aptos"/>
              </a:rPr>
              <a:t>•  Time-budgeted weekly action queue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232325"/>
                </a:solidFill>
                <a:latin typeface="Aptos"/>
              </a:rPr>
              <a:t>•  Evidence on every recommendation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>
                <a:solidFill>
                  <a:srgbClr val="232325"/>
                </a:solidFill>
                <a:latin typeface="Aptos"/>
              </a:rPr>
              <a:t>•  Outlook scheduling + approval-gated Autopilot</a:t>
            </a:r>
          </a:p>
        </p:txBody>
      </p:sp>
      <p:pic>
        <p:nvPicPr>
          <p:cNvPr id="7" name="Picture 6" descr="08-overview.png"/>
          <p:cNvPicPr>
            <a:picLocks noChangeAspect="1"/>
          </p:cNvPicPr>
          <p:nvPr/>
        </p:nvPicPr>
        <p:blipFill>
          <a:blip r:embed="rId2"/>
          <a:srcRect b="8000" l="5000" r="5000"/>
          <a:stretch>
            <a:fillRect/>
          </a:stretch>
        </p:blipFill>
        <p:spPr>
          <a:xfrm>
            <a:off x="5588000" y="1117600"/>
            <a:ext cx="6096000" cy="508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88000" y="1117600"/>
            <a:ext cx="6096000" cy="5080000"/>
          </a:xfrm>
          <a:prstGeom prst="rect">
            <a:avLst/>
          </a:prstGeom>
          <a:noFill/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nore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5689600"/>
            <a:ext cx="2540000" cy="808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31800"/>
            <a:ext cx="8890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232325"/>
                </a:solidFill>
                <a:latin typeface="Aptos Display"/>
              </a:rPr>
              <a:t>Weekly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70000"/>
            <a:ext cx="3810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>
                <a:solidFill>
                  <a:srgbClr val="232325"/>
                </a:solidFill>
                <a:latin typeface="Aptos"/>
              </a:rPr>
              <a:t>•  Pick objective + hour budget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>
                <a:solidFill>
                  <a:srgbClr val="232325"/>
                </a:solidFill>
                <a:latin typeface="Aptos"/>
              </a:rPr>
              <a:t>•  Build my week → ranked queue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>
                <a:solidFill>
                  <a:srgbClr val="232325"/>
                </a:solidFill>
                <a:latin typeface="Aptos"/>
              </a:rPr>
              <a:t>•  Channel, minutes, evidence on every card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>
                <a:solidFill>
                  <a:srgbClr val="232325"/>
                </a:solidFill>
                <a:latin typeface="Aptos"/>
              </a:rPr>
              <a:t>•  Export CSV or schedule around Outlook</a:t>
            </a:r>
          </a:p>
        </p:txBody>
      </p:sp>
      <p:pic>
        <p:nvPicPr>
          <p:cNvPr id="5" name="Picture 4" descr="04-weekly-queue-scrolled.png"/>
          <p:cNvPicPr>
            <a:picLocks noChangeAspect="1"/>
          </p:cNvPicPr>
          <p:nvPr/>
        </p:nvPicPr>
        <p:blipFill>
          <a:blip r:embed="rId2"/>
          <a:srcRect t="20000" b="4000" l="10000" r="10000"/>
          <a:stretch>
            <a:fillRect/>
          </a:stretch>
        </p:blipFill>
        <p:spPr>
          <a:xfrm>
            <a:off x="4724400" y="1117600"/>
            <a:ext cx="6959600" cy="5613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24400" y="1117600"/>
            <a:ext cx="6959600" cy="5613400"/>
          </a:xfrm>
          <a:prstGeom prst="rect">
            <a:avLst/>
          </a:prstGeom>
          <a:noFill/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4200" y="533400"/>
            <a:ext cx="762000" cy="889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4200" y="736600"/>
            <a:ext cx="91440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232325"/>
                </a:solidFill>
                <a:latin typeface="Aptos Display"/>
              </a:rPr>
              <a:t>How it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1371600"/>
            <a:ext cx="11023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Aptos"/>
              </a:rPr>
              <a:t>Deterministic engine end-to-end — no LLM choosing who gets asked for money</a:t>
            </a:r>
          </a:p>
        </p:txBody>
      </p:sp>
      <p:pic>
        <p:nvPicPr>
          <p:cNvPr id="6" name="Picture 5" descr="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66040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0200" y="2870200"/>
            <a:ext cx="1828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6B00"/>
                </a:solidFill>
                <a:latin typeface="Aptos"/>
              </a:rPr>
              <a:t>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300" y="3124200"/>
            <a:ext cx="1752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15 CSVs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20k profiles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paid gifts only</a:t>
            </a:r>
          </a:p>
        </p:txBody>
      </p:sp>
      <p:pic>
        <p:nvPicPr>
          <p:cNvPr id="9" name="Picture 8" descr="class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133600"/>
            <a:ext cx="660400" cy="66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11400" y="2870200"/>
            <a:ext cx="1828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6B00"/>
                </a:solidFill>
                <a:latin typeface="Aptos"/>
              </a:rPr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500" y="3124200"/>
            <a:ext cx="1752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LYBUNT · loyal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lapsed · DNC flags</a:t>
            </a:r>
          </a:p>
        </p:txBody>
      </p:sp>
      <p:pic>
        <p:nvPicPr>
          <p:cNvPr id="12" name="Picture 11" descr="priorit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133600"/>
            <a:ext cx="660400" cy="660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2600" y="2870200"/>
            <a:ext cx="1828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6B00"/>
                </a:solidFill>
                <a:latin typeface="Aptos"/>
              </a:rPr>
              <a:t>Priority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0700" y="3124200"/>
            <a:ext cx="1752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6 scores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18k actions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hour-budget knapsack</a:t>
            </a:r>
          </a:p>
        </p:txBody>
      </p:sp>
      <p:pic>
        <p:nvPicPr>
          <p:cNvPr id="15" name="Picture 14" descr="week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133600"/>
            <a:ext cx="660400" cy="660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73800" y="2870200"/>
            <a:ext cx="1828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6B00"/>
                </a:solidFill>
                <a:latin typeface="Aptos"/>
              </a:rPr>
              <a:t>Weekly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1900" y="3124200"/>
            <a:ext cx="1752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ranked queue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evidence cards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staff export</a:t>
            </a:r>
          </a:p>
        </p:txBody>
      </p:sp>
      <p:pic>
        <p:nvPicPr>
          <p:cNvPr id="18" name="Picture 17" descr="schedu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200" y="2133600"/>
            <a:ext cx="660400" cy="660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55000" y="2870200"/>
            <a:ext cx="1828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6B00"/>
                </a:solidFill>
                <a:latin typeface="Aptos"/>
              </a:rPr>
              <a:t>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100" y="3124200"/>
            <a:ext cx="1752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Outlook busy/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free slots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9–5 placement</a:t>
            </a:r>
          </a:p>
        </p:txBody>
      </p:sp>
      <p:pic>
        <p:nvPicPr>
          <p:cNvPr id="21" name="Picture 20" descr="mc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400" y="2133600"/>
            <a:ext cx="660400" cy="660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236200" y="2870200"/>
            <a:ext cx="1828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6B00"/>
                </a:solidFill>
                <a:latin typeface="Aptos"/>
              </a:rPr>
              <a:t>M365 MCP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74300" y="3124200"/>
            <a:ext cx="1752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7 validated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Graph tools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calendar + mail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25600" y="2454275"/>
            <a:ext cx="1143000" cy="1905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2755900" y="2413000"/>
            <a:ext cx="101600" cy="101600"/>
          </a:xfrm>
          <a:prstGeom prst="triangl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06800" y="2454275"/>
            <a:ext cx="1143000" cy="1905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4737100" y="2413000"/>
            <a:ext cx="101600" cy="101600"/>
          </a:xfrm>
          <a:prstGeom prst="triangl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88000" y="2454275"/>
            <a:ext cx="1143000" cy="1905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6718300" y="2413000"/>
            <a:ext cx="101600" cy="101600"/>
          </a:xfrm>
          <a:prstGeom prst="triangl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69200" y="2454275"/>
            <a:ext cx="1143000" cy="1905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5400000">
            <a:off x="8699500" y="2413000"/>
            <a:ext cx="101600" cy="101600"/>
          </a:xfrm>
          <a:prstGeom prst="triangl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50400" y="2454275"/>
            <a:ext cx="1143000" cy="1905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10680700" y="2413000"/>
            <a:ext cx="101600" cy="101600"/>
          </a:xfrm>
          <a:prstGeom prst="triangl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41075" y="3251200"/>
            <a:ext cx="19050" cy="14224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11099800" y="4648200"/>
            <a:ext cx="101600" cy="101600"/>
          </a:xfrm>
          <a:prstGeom prst="triangle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pprov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0" y="4724400"/>
            <a:ext cx="533400" cy="533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36200" y="5334000"/>
            <a:ext cx="1828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6B00"/>
                </a:solidFill>
                <a:latin typeface="Aptos"/>
              </a:rPr>
              <a:t>Human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4300" y="5588000"/>
            <a:ext cx="1752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approve / reject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audit log</a:t>
            </a:r>
          </a:p>
          <a:p>
            <a:pPr algn="ctr">
              <a:lnSpc>
                <a:spcPct val="115000"/>
              </a:lnSpc>
            </a:pPr>
            <a:r>
              <a:rPr sz="900" b="0">
                <a:solidFill>
                  <a:srgbClr val="0B192C"/>
                </a:solidFill>
                <a:latin typeface="Aptos"/>
              </a:rPr>
              <a:t>no auto-send</a:t>
            </a:r>
          </a:p>
        </p:txBody>
      </p:sp>
      <p:pic>
        <p:nvPicPr>
          <p:cNvPr id="39" name="Picture 38" descr="donorex-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200" y="5943600"/>
            <a:ext cx="1905000" cy="606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31800"/>
            <a:ext cx="9906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232325"/>
                </a:solidFill>
                <a:latin typeface="Aptos Display"/>
              </a:rPr>
              <a:t>Every recommendation shows its work</a:t>
            </a:r>
          </a:p>
        </p:txBody>
      </p:sp>
      <p:pic>
        <p:nvPicPr>
          <p:cNvPr id="4" name="Picture 3" descr="04-weekly-queue-scrolled.png"/>
          <p:cNvPicPr>
            <a:picLocks noChangeAspect="1"/>
          </p:cNvPicPr>
          <p:nvPr/>
        </p:nvPicPr>
        <p:blipFill>
          <a:blip r:embed="rId2"/>
          <a:srcRect t="25000" b="6000" l="8000" r="8000"/>
          <a:stretch>
            <a:fillRect/>
          </a:stretch>
        </p:blipFill>
        <p:spPr>
          <a:xfrm>
            <a:off x="889000" y="1320800"/>
            <a:ext cx="10414000" cy="53467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9000" y="1320800"/>
            <a:ext cx="10414000" cy="5346700"/>
          </a:xfrm>
          <a:prstGeom prst="rect">
            <a:avLst/>
          </a:prstGeom>
          <a:noFill/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431800"/>
            <a:ext cx="10414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232325"/>
                </a:solidFill>
                <a:latin typeface="Aptos Display"/>
              </a:rPr>
              <a:t>Autopilot drafts it. A human sends it.</a:t>
            </a:r>
          </a:p>
        </p:txBody>
      </p:sp>
      <p:pic>
        <p:nvPicPr>
          <p:cNvPr id="4" name="Picture 3" descr="10-autopilot.png"/>
          <p:cNvPicPr>
            <a:picLocks noChangeAspect="1"/>
          </p:cNvPicPr>
          <p:nvPr/>
        </p:nvPicPr>
        <p:blipFill>
          <a:blip r:embed="rId2"/>
          <a:srcRect t="58500" b="1500" l="6500" r="6500"/>
          <a:stretch>
            <a:fillRect/>
          </a:stretch>
        </p:blipFill>
        <p:spPr>
          <a:xfrm>
            <a:off x="762000" y="1422400"/>
            <a:ext cx="10668000" cy="30607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2000" y="1422400"/>
            <a:ext cx="10668000" cy="3060700"/>
          </a:xfrm>
          <a:prstGeom prst="rect">
            <a:avLst/>
          </a:prstGeom>
          <a:noFill/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4851400"/>
            <a:ext cx="10795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>
                <a:solidFill>
                  <a:srgbClr val="232325"/>
                </a:solidFill>
                <a:latin typeface="Aptos"/>
              </a:rPr>
              <a:t>•  Drafts are grounded in that donor’s real giving history — nothing invented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>
                <a:solidFill>
                  <a:srgbClr val="232325"/>
                </a:solidFill>
                <a:latin typeface="Aptos"/>
              </a:rPr>
              <a:t>•  Sends and calendar invites are approval-gated in policy, not just in the UI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600">
                <a:solidFill>
                  <a:srgbClr val="232325"/>
                </a:solidFill>
                <a:latin typeface="Aptos"/>
              </a:rPr>
              <a:t>•  Delegated scopes only  ·  AES-256-GCM token cache  ·  full audit 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F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0600" y="787400"/>
            <a:ext cx="88900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232325"/>
                </a:solidFill>
                <a:latin typeface="Aptos Display"/>
              </a:rPr>
              <a:t>Weaknesses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600" y="1930400"/>
            <a:ext cx="104140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600">
                <a:solidFill>
                  <a:srgbClr val="232325"/>
                </a:solidFill>
                <a:latin typeface="Aptos"/>
              </a:rPr>
              <a:t>•  Greedy optimizer — near-optimal, not provably optimal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600">
                <a:solidFill>
                  <a:srgbClr val="232325"/>
                </a:solidFill>
                <a:latin typeface="Aptos"/>
              </a:rPr>
              <a:t>•  Opportunity dollars are planning estimates, not causal lift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600">
                <a:solidFill>
                  <a:srgbClr val="232325"/>
                </a:solidFill>
                <a:latin typeface="Aptos"/>
              </a:rPr>
              <a:t>•  Segments match intent templates, not a language model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600">
                <a:solidFill>
                  <a:srgbClr val="232325"/>
                </a:solidFill>
                <a:latin typeface="Aptos"/>
              </a:rPr>
              <a:t>•  Feedback is browser-local — no trained model yet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600">
                <a:solidFill>
                  <a:srgbClr val="232325"/>
                </a:solidFill>
                <a:latin typeface="Aptos"/>
              </a:rPr>
              <a:t>•  Recurring Autopilot tasks need “Run now” — no scheduler</a:t>
            </a:r>
          </a:p>
        </p:txBody>
      </p:sp>
      <p:pic>
        <p:nvPicPr>
          <p:cNvPr id="5" name="Picture 4" descr="donor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5994400"/>
            <a:ext cx="1968500" cy="626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rgbClr val="F5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nore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2730500"/>
            <a:ext cx="4826000" cy="15353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63000" y="863600"/>
            <a:ext cx="762000" cy="8890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0" y="1219200"/>
            <a:ext cx="304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232325"/>
                </a:solidFill>
                <a:latin typeface="Aptos Display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0" y="2413000"/>
            <a:ext cx="3175000" cy="330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2000">
                <a:solidFill>
                  <a:srgbClr val="232325"/>
                </a:solidFill>
                <a:latin typeface="Aptos"/>
              </a:rPr>
              <a:t>•  GiveCampus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2000">
                <a:solidFill>
                  <a:srgbClr val="232325"/>
                </a:solidFill>
                <a:latin typeface="Aptos"/>
              </a:rPr>
              <a:t>•  HackMIT organizers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2000">
                <a:solidFill>
                  <a:srgbClr val="232325"/>
                </a:solidFill>
                <a:latin typeface="Aptos"/>
              </a:rPr>
              <a:t>•  Our mentors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2000">
                <a:solidFill>
                  <a:srgbClr val="232325"/>
                </a:solidFill>
                <a:latin typeface="Aptos"/>
              </a:rPr>
              <a:t>•  Rex, our very good dinosaur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0" y="5740400"/>
            <a:ext cx="317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4748B"/>
                </a:solidFill>
                <a:latin typeface="Aptos"/>
              </a:rPr>
              <a:t>donorex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